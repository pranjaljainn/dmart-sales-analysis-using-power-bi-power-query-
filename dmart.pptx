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749" autoAdjust="0"/>
  </p:normalViewPr>
  <p:slideViewPr>
    <p:cSldViewPr snapToGrid="0">
      <p:cViewPr>
        <p:scale>
          <a:sx n="58" d="100"/>
          <a:sy n="58" d="100"/>
        </p:scale>
        <p:origin x="98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BF35F-E3CC-46A1-9895-987BA670ED9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0F8E3-2EBD-4661-A7AB-E48FD79A3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02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0F8E3-2EBD-4661-A7AB-E48FD79A3FB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864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0F8E3-2EBD-4661-A7AB-E48FD79A3FB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380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0F8E3-2EBD-4661-A7AB-E48FD79A3FB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21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3DE3-E0E5-6397-FCD9-139FD0F39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077EC-BEF0-DB2B-311E-B38B41960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33355-81F5-369F-E9F8-0BBBA8FD9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2C964-4623-53E6-93AE-B802AE193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D9415-3B52-4318-C022-59AAA7BD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377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23A7-CD34-BC1E-293D-01BB5842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012E-5AF9-3CD5-116C-E793D0095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3C735-1606-1E71-8821-ABD1186CE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4D98-B059-B71B-353F-E59EC4E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596ED-C4E0-48FC-6A26-BFA8C0F09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05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B9F1-4CEC-01C1-E03F-E52E9CD5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1FD2-5A9A-EB3F-4EA6-C5A2AF987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C570-7E5B-F59B-D3BA-C23592B0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21B38-C9CD-8139-B387-E9718CB6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83725-F5BF-63E0-4841-A4E06AB4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91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D674-2E1A-49D3-AB3D-211E107E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4129-0A6A-A01E-5815-628BE5D62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FDA41-D274-9A60-498B-FA60062EA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FF334-3083-2B88-B689-64A08147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DEF1A-FD46-E2A4-4389-CF21F81F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4BBD8-9725-DC38-528B-E70DFA6B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4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F50D-5E1C-2BE0-C4BA-D2A42008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551EB-0108-03C5-A689-404EEC63E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C164E-F242-5C1E-1951-871F063E8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0B2CF-0246-C013-3871-FEC430266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D97511-7E2B-0C4F-8C63-8A2B18158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87F2A-80E4-67E5-33D2-6083A815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A2C903-DF25-EB67-4FD4-2C8F9F23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9B1AB-E6D8-CE3A-D60C-07476EBD8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585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85BD-2284-106F-8C92-CEDB7CDF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94847-7DEF-91DA-0AEA-0D0C9BA2A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08CCB-0165-B4C2-6C9F-6D199B975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D4E1F-2827-318A-E27B-18357D74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04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A5945B-D19C-174D-DB1E-0E7B1928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63C4E-B151-DA2C-4C3A-F7AD9FB7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3690A-098A-DA6B-D163-735BB7A4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22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5ED1-0802-90A8-9550-0660F927B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7111B-1A09-C4C0-93D1-8680C4E8C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41F7E-8F98-866F-3E5A-A2727CC0A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49DCE-AF47-7A04-6F31-E4CEE59D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077BE-1BF7-6C7E-312E-AFC2625CF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D9B7E-A1DE-1C58-3536-06198EDD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4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19A4-6D31-1D82-8D44-5968036DA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3DF1E-A049-B535-B13C-72418C3E9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2704D-FDEA-046A-FB67-069495A46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58364-3233-E942-7B23-37936CAA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417D0-DEE0-95AB-9A2B-26EB7F7F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2B53D-13C5-F613-D3BA-B199AB54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2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C1AE-54D2-03B6-0C2B-64ECF195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C1F4E-6AD2-6B4C-B806-416B274BD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ABE88-9FC2-7F2D-1C8D-9DDFF8CF4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16DC1-4043-8C6B-8D31-53B1F3B4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1E9C3-6ACC-0B32-0BF1-425D5F1C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5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CDEFD-A1F7-DC3F-05D8-D3B2ACB90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E8EEE-C1DA-152F-3A96-C398D42C8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F9A41-858A-C0D2-1141-73EC6A91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5B8C1-DAC6-007E-623D-AA929644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56B0B-10D4-DEEB-B56A-57D9E589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07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F245A-AB04-8B16-8BA7-4F2BA809D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E07EC-9BDD-8207-0609-B96E553A9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2959D-0FBE-FA28-FC1E-5290481C5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EAD26-EB64-42B3-8847-B6B09E3F7933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82A75-E804-E2F3-9161-4D1356D6F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99F1E-7B7E-2E7A-3E9E-AD1F993DC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3626A-56DB-4412-9035-C219EEC0D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82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c86351f7882d4df3&amp;sxsrf=AE3TifO-OuS4Cn8SXmVSm_S-BMcbOHZaEQ%3A1758135623174&amp;q=Everyday+Low+Price+%28EDLP%29+model&amp;sa=X&amp;ved=2ahUKEwiJ-qTKveCPAxVFm68BHdMCLG4QxccNegQIJRAC&amp;mstk=AUtExfBPWZogAjEkpmJFasxa-37wA_X7aIoHBKfgZf08reaPNkX4n9KAN-F1dyMWHTi8tZsNoqWa9wwhAjYifrua6ARJvJudUoemBrkGWYB1pQ1DJfICakb20VLc19Fjaw095yPTrTqhYYSHLCHx7cybQYz8faCGQeGs7JpE05P8fn_9D_ZZ_h2rFNaPxWbDhC2ceYsWsJ1A_em-F8zCwP1Dfs4hSz3XgXF_VoHpv6nKf0HWXb68LEcnRJGVSzAjn_aulBE8HwRp1M63QoSCaI_a2BaAEZNdY63_QH7Szbvg66jZrAiaFQ0IT6xU0VfA8d_wXM-tvzBa0pl3x07rG82lBgMhG8iPQgrh4un4r0_Rn0hJw4ReAUlzMDj79CkFjPNG58ajXz-D1i4Fi1wkRaeGUA&amp;csui=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F11764-7DA0-45AE-E200-210F28E95C20}"/>
              </a:ext>
            </a:extLst>
          </p:cNvPr>
          <p:cNvSpPr/>
          <p:nvPr/>
        </p:nvSpPr>
        <p:spPr>
          <a:xfrm>
            <a:off x="0" y="1017814"/>
            <a:ext cx="12192000" cy="4343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  <a:latin typeface="Arial Black" panose="020B0A04020102020204" pitchFamily="34" charset="0"/>
              </a:rPr>
              <a:t>Sales Analysis on </a:t>
            </a:r>
          </a:p>
          <a:p>
            <a:pPr algn="ctr"/>
            <a:r>
              <a:rPr lang="en-US" sz="72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DMART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    </a:t>
            </a:r>
          </a:p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Presented by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Pranjal </a:t>
            </a:r>
            <a:r>
              <a:rPr lang="en-US" sz="3200" dirty="0" err="1">
                <a:solidFill>
                  <a:schemeClr val="tx1"/>
                </a:solidFill>
                <a:latin typeface="Arial Black" panose="020B0A04020102020204" pitchFamily="34" charset="0"/>
              </a:rPr>
              <a:t>jain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10CE96-C91A-B9C4-07B3-F1D450A2A8F0}"/>
              </a:ext>
            </a:extLst>
          </p:cNvPr>
          <p:cNvCxnSpPr>
            <a:cxnSpLocks/>
          </p:cNvCxnSpPr>
          <p:nvPr/>
        </p:nvCxnSpPr>
        <p:spPr>
          <a:xfrm>
            <a:off x="174171" y="4149090"/>
            <a:ext cx="11701599" cy="0"/>
          </a:xfrm>
          <a:prstGeom prst="straightConnector1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C8A1C52-F847-3618-5FD5-91CB8EA66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5891" y="1017814"/>
            <a:ext cx="2446109" cy="3102421"/>
          </a:xfrm>
          <a:prstGeom prst="rect">
            <a:avLst/>
          </a:prstGeom>
        </p:spPr>
      </p:pic>
      <p:pic>
        <p:nvPicPr>
          <p:cNvPr id="13" name="Graphic 12" descr="Business Growth with solid fill">
            <a:extLst>
              <a:ext uri="{FF2B5EF4-FFF2-40B4-BE49-F238E27FC236}">
                <a16:creationId xmlns:a16="http://schemas.microsoft.com/office/drawing/2014/main" id="{4663C649-EF7C-271C-84AF-6C3C14F3AD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744" y="5361214"/>
            <a:ext cx="1894113" cy="1436909"/>
          </a:xfrm>
          <a:prstGeom prst="rect">
            <a:avLst/>
          </a:prstGeom>
        </p:spPr>
      </p:pic>
      <p:pic>
        <p:nvPicPr>
          <p:cNvPr id="15" name="Graphic 14" descr="City with solid fill">
            <a:extLst>
              <a:ext uri="{FF2B5EF4-FFF2-40B4-BE49-F238E27FC236}">
                <a16:creationId xmlns:a16="http://schemas.microsoft.com/office/drawing/2014/main" id="{A04CC80C-75AC-D4D1-DDF7-8C32193958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7706" y="5326381"/>
            <a:ext cx="1730827" cy="1436909"/>
          </a:xfrm>
          <a:prstGeom prst="rect">
            <a:avLst/>
          </a:prstGeom>
        </p:spPr>
      </p:pic>
      <p:pic>
        <p:nvPicPr>
          <p:cNvPr id="17" name="Graphic 16" descr="Dollar with solid fill">
            <a:extLst>
              <a:ext uri="{FF2B5EF4-FFF2-40B4-BE49-F238E27FC236}">
                <a16:creationId xmlns:a16="http://schemas.microsoft.com/office/drawing/2014/main" id="{99197F16-C23C-47CD-E8E1-E564ABADF8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6349" y="5343798"/>
            <a:ext cx="1436909" cy="1436909"/>
          </a:xfrm>
          <a:prstGeom prst="rect">
            <a:avLst/>
          </a:prstGeom>
        </p:spPr>
      </p:pic>
      <p:pic>
        <p:nvPicPr>
          <p:cNvPr id="19" name="Graphic 18" descr="Mathematics with solid fill">
            <a:extLst>
              <a:ext uri="{FF2B5EF4-FFF2-40B4-BE49-F238E27FC236}">
                <a16:creationId xmlns:a16="http://schemas.microsoft.com/office/drawing/2014/main" id="{04BFAC55-F286-D859-E13B-2088B90174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2215" y="5326381"/>
            <a:ext cx="1730828" cy="143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0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2AB172-073B-B684-92EB-C0CA41C08676}"/>
              </a:ext>
            </a:extLst>
          </p:cNvPr>
          <p:cNvSpPr/>
          <p:nvPr/>
        </p:nvSpPr>
        <p:spPr>
          <a:xfrm>
            <a:off x="169587" y="204894"/>
            <a:ext cx="2537460" cy="24460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ctr"/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DMART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2397B-0806-BA94-5D66-B1F63559F1A2}"/>
              </a:ext>
            </a:extLst>
          </p:cNvPr>
          <p:cNvSpPr txBox="1"/>
          <p:nvPr/>
        </p:nvSpPr>
        <p:spPr>
          <a:xfrm>
            <a:off x="4103915" y="546566"/>
            <a:ext cx="779932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INTRODUCTION</a:t>
            </a:r>
            <a:endParaRPr lang="en-US" sz="3200" kern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0B3C277-4909-59F4-96F3-98A0CC8073D6}"/>
              </a:ext>
            </a:extLst>
          </p:cNvPr>
          <p:cNvCxnSpPr>
            <a:cxnSpLocks/>
          </p:cNvCxnSpPr>
          <p:nvPr/>
        </p:nvCxnSpPr>
        <p:spPr>
          <a:xfrm>
            <a:off x="3831771" y="1369882"/>
            <a:ext cx="8175172" cy="0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58326B-D262-37D8-043B-0540EC6F197F}"/>
              </a:ext>
            </a:extLst>
          </p:cNvPr>
          <p:cNvSpPr txBox="1"/>
          <p:nvPr/>
        </p:nvSpPr>
        <p:spPr>
          <a:xfrm>
            <a:off x="4006514" y="1910231"/>
            <a:ext cx="7188708" cy="49244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D-Mart is an Indian supermarket chain, owned and operated by Avenue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Supermarts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Ltd. (ASL), founded by Radhakishan Damani in 2002. The stores offer a wide range of products, including food, personal care items, clothing, and home essentials, at competitive prices, focusing on an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Everyday Low Price (EDLP) model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D-Mart's success is attributed to its strategy of owning store properties to avoid rent costs, maintaining low operational expenses, and building customer loyalty through value pricing. It has a significant presence across various Indian states, operating hundreds of stores and employing private-label brands to enhance its offerings. 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A0D338-FE82-6288-1BC1-9DBA200E3CAA}"/>
              </a:ext>
            </a:extLst>
          </p:cNvPr>
          <p:cNvSpPr/>
          <p:nvPr/>
        </p:nvSpPr>
        <p:spPr>
          <a:xfrm>
            <a:off x="312218" y="3019926"/>
            <a:ext cx="3164306" cy="3524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Ownership Radhakishan Damani in 2002.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EDLP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Profitable retail 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store Powai 2002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Brands- D Mart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Mart Minimax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Mart Premia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Homes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Dutch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Harbour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9FE974-2D1F-5A66-3C55-1B92BE6A7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07" y="1011018"/>
            <a:ext cx="1809783" cy="14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65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8D5B49-E72E-B6C6-89C5-1DFAEE3980DB}"/>
              </a:ext>
            </a:extLst>
          </p:cNvPr>
          <p:cNvSpPr/>
          <p:nvPr/>
        </p:nvSpPr>
        <p:spPr>
          <a:xfrm>
            <a:off x="2397210" y="84059"/>
            <a:ext cx="5647037" cy="9267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OBJECTIVES</a:t>
            </a:r>
            <a:endParaRPr lang="en-IN" sz="4400" b="1" dirty="0">
              <a:solidFill>
                <a:schemeClr val="tx1"/>
              </a:solidFill>
            </a:endParaRPr>
          </a:p>
        </p:txBody>
      </p:sp>
      <p:pic>
        <p:nvPicPr>
          <p:cNvPr id="3" name="Graphic 2" descr="Classroom with solid fill">
            <a:extLst>
              <a:ext uri="{FF2B5EF4-FFF2-40B4-BE49-F238E27FC236}">
                <a16:creationId xmlns:a16="http://schemas.microsoft.com/office/drawing/2014/main" id="{F6587C74-DC18-A566-8665-5D782DE1C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6565663" y="0"/>
            <a:ext cx="1094877" cy="1094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14ED9E-B656-E5E0-349B-297D4984D602}"/>
              </a:ext>
            </a:extLst>
          </p:cNvPr>
          <p:cNvSpPr txBox="1"/>
          <p:nvPr/>
        </p:nvSpPr>
        <p:spPr>
          <a:xfrm>
            <a:off x="185351" y="1544595"/>
            <a:ext cx="11894354" cy="50167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sales trends : Analyzing sales data to spot peak  and dips in sales, and potential growth opportunities.</a:t>
            </a:r>
          </a:p>
          <a:p>
            <a:pPr marL="342900" indent="-342900"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Product performance: Determining which product categories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indivisual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items are driving the most sales and which are underperforming.</a:t>
            </a:r>
          </a:p>
          <a:p>
            <a:pPr marL="342900" indent="-342900"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Gaining Customer Insight: Analyzing customer behavior, such as average order value , purchase frequency and demographics to understand customer preferences and tailor offerings.</a:t>
            </a:r>
          </a:p>
          <a:p>
            <a:pPr marL="342900" indent="-342900"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Geographical Sales patterns :Examining sales patterns across different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regions,city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identify areas with high growth potential .</a:t>
            </a:r>
          </a:p>
          <a:p>
            <a:pPr marL="342900" indent="-342900"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Overall Business Performance :By leveraging the insights gained from sales analysis 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Dmart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make data driven decisions to improve sales efficiency, customer satisfaction and overall business performance </a:t>
            </a:r>
            <a:r>
              <a:rPr lang="en-US" sz="2000" dirty="0"/>
              <a:t>.</a:t>
            </a:r>
          </a:p>
          <a:p>
            <a:pPr marL="342900" indent="-342900">
              <a:buAutoNum type="arabicPeriod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958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88BE3F-7FAE-8FA0-1A9D-4B6B7CC8463D}"/>
              </a:ext>
            </a:extLst>
          </p:cNvPr>
          <p:cNvSpPr/>
          <p:nvPr/>
        </p:nvSpPr>
        <p:spPr>
          <a:xfrm>
            <a:off x="1119051" y="165460"/>
            <a:ext cx="9562012" cy="4615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SALE BY REGION 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587C97-1FC4-CF3B-39F1-563789526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" t="4107" r="5408" b="9692"/>
          <a:stretch>
            <a:fillRect/>
          </a:stretch>
        </p:blipFill>
        <p:spPr>
          <a:xfrm>
            <a:off x="193963" y="895926"/>
            <a:ext cx="5985164" cy="405476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F86E24-99D5-5254-37C8-A855F335C714}"/>
              </a:ext>
            </a:extLst>
          </p:cNvPr>
          <p:cNvSpPr/>
          <p:nvPr/>
        </p:nvSpPr>
        <p:spPr>
          <a:xfrm>
            <a:off x="6410036" y="738910"/>
            <a:ext cx="5209309" cy="44242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clustered bar chart shows the sum of sales analysis by region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sale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Western region – 4.8 M</a:t>
            </a:r>
          </a:p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Eastern region – 4.2 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sale –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region – 0.1-1M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87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79A2CA-9C72-3D41-C418-DC787F85DF8F}"/>
              </a:ext>
            </a:extLst>
          </p:cNvPr>
          <p:cNvSpPr/>
          <p:nvPr/>
        </p:nvSpPr>
        <p:spPr>
          <a:xfrm>
            <a:off x="1119051" y="165460"/>
            <a:ext cx="9562012" cy="4615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SUM OF PROFIT BY CITY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1E7A3-BDB9-C97D-6CFF-98B8E5D7D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56" y="858982"/>
            <a:ext cx="5268326" cy="422563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6B56E6-0654-99E1-55DB-253B98A66673}"/>
              </a:ext>
            </a:extLst>
          </p:cNvPr>
          <p:cNvSpPr/>
          <p:nvPr/>
        </p:nvSpPr>
        <p:spPr>
          <a:xfrm>
            <a:off x="6012873" y="759691"/>
            <a:ext cx="5209309" cy="44242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funnel chart shows the sum of profit by city.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profit –</a:t>
            </a:r>
          </a:p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Bodi – 176.66K</a:t>
            </a:r>
          </a:p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Kanyakumari – 99.1%</a:t>
            </a:r>
            <a:endParaRPr lang="en-IN" sz="3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profit –</a:t>
            </a:r>
          </a:p>
          <a:p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Trichy – 78.35 %</a:t>
            </a:r>
            <a:endParaRPr lang="en-US" sz="3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88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967C39-3780-C823-2E8E-DF6B0A003C1C}"/>
              </a:ext>
            </a:extLst>
          </p:cNvPr>
          <p:cNvSpPr/>
          <p:nvPr/>
        </p:nvSpPr>
        <p:spPr>
          <a:xfrm>
            <a:off x="1119051" y="165460"/>
            <a:ext cx="9562012" cy="4615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TARGETED PROFIT 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77F0D-D541-4737-A95D-0FBA0F9AD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6" y="973816"/>
            <a:ext cx="5186941" cy="365360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283788-CB24-8C5B-3D41-A2EB4A180254}"/>
              </a:ext>
            </a:extLst>
          </p:cNvPr>
          <p:cNvSpPr/>
          <p:nvPr/>
        </p:nvSpPr>
        <p:spPr>
          <a:xfrm>
            <a:off x="6096000" y="785092"/>
            <a:ext cx="5209309" cy="44242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Representation ---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 :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Profit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Value: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3.75M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This is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earned by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Dmart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Value: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0.00M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Maximum/Target Value: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7.49M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--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green arc shows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much of the target profit has been achieved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3.75M out of 7.49M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DMart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achieved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~50% of the target profit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larger the filled green portion, the closer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DMart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to meeting or exceeding its profit goal.</a:t>
            </a:r>
          </a:p>
        </p:txBody>
      </p:sp>
    </p:spTree>
    <p:extLst>
      <p:ext uri="{BB962C8B-B14F-4D97-AF65-F5344CB8AC3E}">
        <p14:creationId xmlns:p14="http://schemas.microsoft.com/office/powerpoint/2010/main" val="100679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CEA357-5705-1512-ACE1-F0F53C135B4D}"/>
              </a:ext>
            </a:extLst>
          </p:cNvPr>
          <p:cNvSpPr/>
          <p:nvPr/>
        </p:nvSpPr>
        <p:spPr>
          <a:xfrm>
            <a:off x="0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YEAR WISE PROFIT  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E91E2E-8992-DC0B-AB88-FF1D1DEF4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3" y="611156"/>
            <a:ext cx="5541818" cy="453719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4E7A77-F79B-3B14-1D7C-03344FA5630A}"/>
              </a:ext>
            </a:extLst>
          </p:cNvPr>
          <p:cNvSpPr/>
          <p:nvPr/>
        </p:nvSpPr>
        <p:spPr>
          <a:xfrm>
            <a:off x="5926131" y="692744"/>
            <a:ext cx="6044196" cy="43740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displays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DMart’s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profit has changed year-by-year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 to 2021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Year-wise interpretation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0.75M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Lower starting profit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0.80M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Slight growth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0.95M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Steady increase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1.24M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growth / peak profit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1.05M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decline</a:t>
            </a:r>
            <a:endParaRPr lang="en-US" sz="20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1.18M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Recovery begins</a:t>
            </a:r>
          </a:p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2021: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~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1.30M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Strong growth again</a:t>
            </a:r>
          </a:p>
          <a:p>
            <a:pPr algn="ctr"/>
            <a:endParaRPr lang="en-IN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146C8E-88FB-A74A-C659-5F4F41BE1F45}"/>
              </a:ext>
            </a:extLst>
          </p:cNvPr>
          <p:cNvSpPr/>
          <p:nvPr/>
        </p:nvSpPr>
        <p:spPr>
          <a:xfrm>
            <a:off x="92765" y="5269980"/>
            <a:ext cx="8004314" cy="15880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Key insights for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DMart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Overall upward trend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in profits over the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Best performing year: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2018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Temporary dip in 2019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, indicating possible operational or market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Post-2019 recovery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, showing improved sales strategy or demand</a:t>
            </a:r>
          </a:p>
          <a:p>
            <a:pPr algn="ctr"/>
            <a:endParaRPr lang="en-IN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68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55603-2CD9-0BCC-DD69-587E843B300C}"/>
              </a:ext>
            </a:extLst>
          </p:cNvPr>
          <p:cNvSpPr/>
          <p:nvPr/>
        </p:nvSpPr>
        <p:spPr>
          <a:xfrm>
            <a:off x="0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TOP 5 CITIES  PROFIT  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022E5-77F2-3154-A246-77D827AAA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20" y="905474"/>
            <a:ext cx="5490681" cy="428051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E7301C-EE77-986B-FFD6-7D9D37922FB9}"/>
              </a:ext>
            </a:extLst>
          </p:cNvPr>
          <p:cNvSpPr/>
          <p:nvPr/>
        </p:nvSpPr>
        <p:spPr>
          <a:xfrm>
            <a:off x="6128664" y="738910"/>
            <a:ext cx="5490681" cy="61190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 for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Dmart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</a:p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Southern cities dominate profit         contribution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Vellore &amp; Karur appear among the Highest profit-generating 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DMart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can:</a:t>
            </a:r>
          </a:p>
          <a:p>
            <a:pPr lvl="1"/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Replicate successful strategies from these cities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 more in logistics &amp; inventory for high-profit regions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underperforming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cities for improvement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43E1C1-5CFB-B33F-4D4A-4C84E3F2892F}"/>
              </a:ext>
            </a:extLst>
          </p:cNvPr>
          <p:cNvSpPr/>
          <p:nvPr/>
        </p:nvSpPr>
        <p:spPr>
          <a:xfrm>
            <a:off x="0" y="5185992"/>
            <a:ext cx="6063337" cy="167200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This map visual shows the top 5 cities contributing the highest profit to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DMart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. The bubble size and color indicate profit levels, helping identify high-performing regions geographically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09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E05AA2-8496-A34C-F1EF-89A18D5DB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8910"/>
            <a:ext cx="6215270" cy="499928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503E33-4509-E37A-2B9F-8FECE3471BE9}"/>
              </a:ext>
            </a:extLst>
          </p:cNvPr>
          <p:cNvSpPr/>
          <p:nvPr/>
        </p:nvSpPr>
        <p:spPr>
          <a:xfrm>
            <a:off x="6410036" y="738909"/>
            <a:ext cx="5209309" cy="57148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pie charts shows the sum of sales by sub category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sales—</a:t>
            </a:r>
          </a:p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 drinks – 13.75%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sales—</a:t>
            </a:r>
          </a:p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Biscuits –8.62%</a:t>
            </a:r>
          </a:p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9B360B-3FF7-4096-1462-749C35C3E034}"/>
              </a:ext>
            </a:extLst>
          </p:cNvPr>
          <p:cNvSpPr/>
          <p:nvPr/>
        </p:nvSpPr>
        <p:spPr>
          <a:xfrm>
            <a:off x="1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SUB CATEGORY WISE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7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680FD2-B935-52AA-90D9-30C5154B084D}"/>
              </a:ext>
            </a:extLst>
          </p:cNvPr>
          <p:cNvSpPr/>
          <p:nvPr/>
        </p:nvSpPr>
        <p:spPr>
          <a:xfrm>
            <a:off x="1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SWOT ANALYSIS OF D-MART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D8C59-F366-337B-2E36-A64BCC26273E}"/>
              </a:ext>
            </a:extLst>
          </p:cNvPr>
          <p:cNvSpPr/>
          <p:nvPr/>
        </p:nvSpPr>
        <p:spPr>
          <a:xfrm>
            <a:off x="3260035" y="788505"/>
            <a:ext cx="5433391" cy="7454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  <a:latin typeface="Arial Black" panose="020B0A04020102020204" pitchFamily="34" charset="0"/>
              </a:rPr>
              <a:t>STRENGHTS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4587169-9D5A-C9D2-0F31-F9F70858F51C}"/>
              </a:ext>
            </a:extLst>
          </p:cNvPr>
          <p:cNvSpPr/>
          <p:nvPr/>
        </p:nvSpPr>
        <p:spPr>
          <a:xfrm>
            <a:off x="3909392" y="1832919"/>
            <a:ext cx="7885044" cy="4554630"/>
          </a:xfrm>
          <a:prstGeom prst="snip1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Low-Cost Leadership</a:t>
            </a:r>
            <a:endParaRPr lang="en-US" sz="4000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accent6">
                    <a:lumMod val="50000"/>
                  </a:schemeClr>
                </a:solidFill>
              </a:rPr>
              <a:t>Debt-Light Financial Model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accent6">
                    <a:lumMod val="50000"/>
                  </a:schemeClr>
                </a:solidFill>
              </a:rPr>
              <a:t>Efficient Inventory &amp; Supply Chain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accent6">
                    <a:lumMod val="50000"/>
                  </a:schemeClr>
                </a:solidFill>
              </a:rPr>
              <a:t>Loyal and Repeat Customers</a:t>
            </a:r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accent6">
                    <a:lumMod val="50000"/>
                  </a:schemeClr>
                </a:solidFill>
              </a:rPr>
              <a:t>Expanding National Presence</a:t>
            </a:r>
          </a:p>
          <a:p>
            <a:pPr fontAlgn="base"/>
            <a:endParaRPr lang="en-IN" sz="4000" b="1" dirty="0">
              <a:solidFill>
                <a:schemeClr val="accent6">
                  <a:lumMod val="50000"/>
                </a:schemeClr>
              </a:solidFill>
            </a:endParaRPr>
          </a:p>
          <a:p>
            <a:pPr fontAlgn="base"/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" name="Graphic 7" descr="Muscular arm with solid fill">
            <a:extLst>
              <a:ext uri="{FF2B5EF4-FFF2-40B4-BE49-F238E27FC236}">
                <a16:creationId xmlns:a16="http://schemas.microsoft.com/office/drawing/2014/main" id="{DC5F00FF-E617-D4AC-1FA0-59853D3FA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65" y="2385391"/>
            <a:ext cx="3511826" cy="317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1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3F4EA0-D8CF-99AD-84B9-D13304473007}"/>
              </a:ext>
            </a:extLst>
          </p:cNvPr>
          <p:cNvSpPr/>
          <p:nvPr/>
        </p:nvSpPr>
        <p:spPr>
          <a:xfrm>
            <a:off x="0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SWOT ANAYSIS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9200A5-F87A-E46C-EFFC-B85D6AFB5345}"/>
              </a:ext>
            </a:extLst>
          </p:cNvPr>
          <p:cNvSpPr/>
          <p:nvPr/>
        </p:nvSpPr>
        <p:spPr>
          <a:xfrm>
            <a:off x="3260035" y="788505"/>
            <a:ext cx="5433391" cy="7454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WEAKNESS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B05F2DC5-D01C-2122-7936-9085A70875CB}"/>
              </a:ext>
            </a:extLst>
          </p:cNvPr>
          <p:cNvSpPr/>
          <p:nvPr/>
        </p:nvSpPr>
        <p:spPr>
          <a:xfrm>
            <a:off x="4929808" y="1832917"/>
            <a:ext cx="6771861" cy="4793169"/>
          </a:xfrm>
          <a:prstGeom prst="snip1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Overdependence on Physical Stores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International Expansion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International Expansion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Profit Margins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No-Frills Shopping Experience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3A3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Online Presence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fontAlgn="base">
              <a:buFont typeface="Arial" panose="020B0604020202020204" pitchFamily="34" charset="0"/>
              <a:buChar char="•"/>
            </a:pPr>
            <a:endParaRPr lang="en-IN" sz="5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IN"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fontAlgn="base"/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" name="Graphic 7" descr="Bar graph with downward trend with solid fill">
            <a:extLst>
              <a:ext uri="{FF2B5EF4-FFF2-40B4-BE49-F238E27FC236}">
                <a16:creationId xmlns:a16="http://schemas.microsoft.com/office/drawing/2014/main" id="{F85F72C0-F33A-4F9C-5975-1CAADE670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278" y="2199862"/>
            <a:ext cx="4522303" cy="36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0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874335-AB4C-43A4-9C91-F76FCF7D8E88}"/>
              </a:ext>
            </a:extLst>
          </p:cNvPr>
          <p:cNvSpPr/>
          <p:nvPr/>
        </p:nvSpPr>
        <p:spPr>
          <a:xfrm>
            <a:off x="0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SWOT ANALYSIS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DC048F37-CEEC-1854-D33D-04C4D6A997A6}"/>
              </a:ext>
            </a:extLst>
          </p:cNvPr>
          <p:cNvSpPr/>
          <p:nvPr/>
        </p:nvSpPr>
        <p:spPr>
          <a:xfrm>
            <a:off x="3909392" y="1832919"/>
            <a:ext cx="7885044" cy="4912438"/>
          </a:xfrm>
          <a:prstGeom prst="snip1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 into Tier II &amp; III Cities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in Online Grocery Market.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Private Label Product Lines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 Sustainability Initiatives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Partnerships with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Fintechs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Local Brands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New Store Openings</a:t>
            </a:r>
          </a:p>
          <a:p>
            <a:pPr fontAlgn="base"/>
            <a:endParaRPr lang="en-US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08CCA9-30C1-490D-5BDB-5259409180AB}"/>
              </a:ext>
            </a:extLst>
          </p:cNvPr>
          <p:cNvSpPr/>
          <p:nvPr/>
        </p:nvSpPr>
        <p:spPr>
          <a:xfrm>
            <a:off x="3260035" y="788505"/>
            <a:ext cx="5433391" cy="7454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OPPORTUNITIES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Graphic 6" descr="Target with solid fill">
            <a:extLst>
              <a:ext uri="{FF2B5EF4-FFF2-40B4-BE49-F238E27FC236}">
                <a16:creationId xmlns:a16="http://schemas.microsoft.com/office/drawing/2014/main" id="{909CD78A-16AB-9B67-386D-D52FB5F62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88" y="1934817"/>
            <a:ext cx="3540950" cy="33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2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A6C245-45D7-C5B5-6A7B-8E71D1F76DCA}"/>
              </a:ext>
            </a:extLst>
          </p:cNvPr>
          <p:cNvSpPr/>
          <p:nvPr/>
        </p:nvSpPr>
        <p:spPr>
          <a:xfrm>
            <a:off x="0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SWOT ANALYSIS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5F332-8C61-A51C-D95A-E64817F0DE6B}"/>
              </a:ext>
            </a:extLst>
          </p:cNvPr>
          <p:cNvSpPr/>
          <p:nvPr/>
        </p:nvSpPr>
        <p:spPr>
          <a:xfrm>
            <a:off x="3260035" y="788505"/>
            <a:ext cx="5433391" cy="7454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THREATS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1C8A5416-7980-4C8B-5BA6-1828014D1C01}"/>
              </a:ext>
            </a:extLst>
          </p:cNvPr>
          <p:cNvSpPr/>
          <p:nvPr/>
        </p:nvSpPr>
        <p:spPr>
          <a:xfrm>
            <a:off x="3909392" y="1832919"/>
            <a:ext cx="7885044" cy="4554630"/>
          </a:xfrm>
          <a:prstGeom prst="snip1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Giants Scaling Fast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Economic Volatility &amp; Inflation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Supply Chain Disruptions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&amp; Policy Risks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Unorganized Retail Competition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Evolving Consumer Expectations</a:t>
            </a:r>
          </a:p>
          <a:p>
            <a:pPr fontAlgn="base"/>
            <a:endParaRPr lang="en-IN" b="1" dirty="0"/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27230706-7A82-2831-B9BA-FA9DBB646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096" y="2266122"/>
            <a:ext cx="3074504" cy="30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8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01D4CB-C9C2-08D4-E6B7-AA2D0C78AF20}"/>
              </a:ext>
            </a:extLst>
          </p:cNvPr>
          <p:cNvSpPr/>
          <p:nvPr/>
        </p:nvSpPr>
        <p:spPr>
          <a:xfrm>
            <a:off x="0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RECOMMENDATIONS 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6B695EF5-9D0A-F96F-2C6E-DFDAE03A1AD6}"/>
              </a:ext>
            </a:extLst>
          </p:cNvPr>
          <p:cNvSpPr/>
          <p:nvPr/>
        </p:nvSpPr>
        <p:spPr>
          <a:xfrm>
            <a:off x="106018" y="489527"/>
            <a:ext cx="11926958" cy="6368473"/>
          </a:xfrm>
          <a:prstGeom prst="snip1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Strengthen High-Profit Cities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Focus on Closing the Profit Gap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Analyze &amp; Prevent Profit Declines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Replicate Success of Peak Year (2018)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Accelerate Growth Momentum Post-2020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Profits recovered strongly in 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2020–2021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Optimize Regional Expansion Strategy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Improve Decision-Making with Advanced KPIs</a:t>
            </a:r>
            <a:endParaRPr lang="en-US" sz="3600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Enhance Dashboard for Leadership .</a:t>
            </a:r>
          </a:p>
        </p:txBody>
      </p:sp>
    </p:spTree>
    <p:extLst>
      <p:ext uri="{BB962C8B-B14F-4D97-AF65-F5344CB8AC3E}">
        <p14:creationId xmlns:p14="http://schemas.microsoft.com/office/powerpoint/2010/main" val="399495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90F625-192A-9270-33BC-CFF555BF8154}"/>
              </a:ext>
            </a:extLst>
          </p:cNvPr>
          <p:cNvSpPr/>
          <p:nvPr/>
        </p:nvSpPr>
        <p:spPr>
          <a:xfrm>
            <a:off x="0" y="0"/>
            <a:ext cx="12191999" cy="4895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DASHBOARD</a:t>
            </a:r>
            <a:endParaRPr lang="en-IN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0F8F78-FC0A-1E9E-2BD7-3E7D942FD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527"/>
            <a:ext cx="12191999" cy="636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5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821</Words>
  <Application>Microsoft Office PowerPoint</Application>
  <PresentationFormat>Widescreen</PresentationFormat>
  <Paragraphs>128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LAPTOP</dc:creator>
  <cp:lastModifiedBy>HP LAPTOP</cp:lastModifiedBy>
  <cp:revision>2</cp:revision>
  <dcterms:created xsi:type="dcterms:W3CDTF">2025-09-17T18:55:04Z</dcterms:created>
  <dcterms:modified xsi:type="dcterms:W3CDTF">2025-12-21T16:05:51Z</dcterms:modified>
</cp:coreProperties>
</file>